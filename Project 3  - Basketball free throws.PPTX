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6" r:id="rId5"/>
    <p:sldId id="262" r:id="rId6"/>
    <p:sldId id="267" r:id="rId7"/>
    <p:sldId id="263" r:id="rId8"/>
    <p:sldId id="268"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22" autoAdjust="0"/>
  </p:normalViewPr>
  <p:slideViewPr>
    <p:cSldViewPr snapToGrid="0">
      <p:cViewPr varScale="1">
        <p:scale>
          <a:sx n="69" d="100"/>
          <a:sy n="69" d="100"/>
        </p:scale>
        <p:origin x="7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51C30E-B394-4D23-9D00-A84EF39E7A5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BE839AEB-0E9F-4430-961D-01F5EBDB06D8}">
      <dgm:prSet/>
      <dgm:spPr/>
      <dgm:t>
        <a:bodyPr/>
        <a:lstStyle/>
        <a:p>
          <a:r>
            <a:rPr lang="en-US"/>
            <a:t>The data revealed that the number of free throw attempts varied significantly between players and games. This variance may be influenced by the style of play, aggressiveness in driving to the basket, and drawing fouls.</a:t>
          </a:r>
        </a:p>
      </dgm:t>
    </dgm:pt>
    <dgm:pt modelId="{C412CDF3-363D-4FA3-B5BF-20812368A81E}" type="parTrans" cxnId="{C435D789-C078-4804-9E10-BF544F9BA91B}">
      <dgm:prSet/>
      <dgm:spPr/>
      <dgm:t>
        <a:bodyPr/>
        <a:lstStyle/>
        <a:p>
          <a:endParaRPr lang="en-US"/>
        </a:p>
      </dgm:t>
    </dgm:pt>
    <dgm:pt modelId="{2ED4F905-1079-4223-86A3-D722B454A388}" type="sibTrans" cxnId="{C435D789-C078-4804-9E10-BF544F9BA91B}">
      <dgm:prSet/>
      <dgm:spPr/>
      <dgm:t>
        <a:bodyPr/>
        <a:lstStyle/>
        <a:p>
          <a:endParaRPr lang="en-US"/>
        </a:p>
      </dgm:t>
    </dgm:pt>
    <dgm:pt modelId="{08FD93A8-11E7-46B7-90FE-7FA8B2E75165}">
      <dgm:prSet/>
      <dgm:spPr/>
      <dgm:t>
        <a:bodyPr/>
        <a:lstStyle/>
        <a:p>
          <a:r>
            <a:rPr lang="en-US"/>
            <a:t>Players who often engage in close contact play or drive towards the basket tend to earn more free throw opportunities, indicating their aggressive play style.</a:t>
          </a:r>
        </a:p>
      </dgm:t>
    </dgm:pt>
    <dgm:pt modelId="{2823463D-12B3-4275-98CB-5824A62E2CE3}" type="parTrans" cxnId="{9A526598-CAB1-4BA7-89A9-AC9CE7F6D8EE}">
      <dgm:prSet/>
      <dgm:spPr/>
      <dgm:t>
        <a:bodyPr/>
        <a:lstStyle/>
        <a:p>
          <a:endParaRPr lang="en-US"/>
        </a:p>
      </dgm:t>
    </dgm:pt>
    <dgm:pt modelId="{27E6DA63-DFC3-4ACB-AD25-E0373EBE402E}" type="sibTrans" cxnId="{9A526598-CAB1-4BA7-89A9-AC9CE7F6D8EE}">
      <dgm:prSet/>
      <dgm:spPr/>
      <dgm:t>
        <a:bodyPr/>
        <a:lstStyle/>
        <a:p>
          <a:endParaRPr lang="en-US"/>
        </a:p>
      </dgm:t>
    </dgm:pt>
    <dgm:pt modelId="{5C2B98E3-DBE8-4581-B0D6-ACDA4F3741AD}" type="pres">
      <dgm:prSet presAssocID="{D251C30E-B394-4D23-9D00-A84EF39E7A59}" presName="outerComposite" presStyleCnt="0">
        <dgm:presLayoutVars>
          <dgm:chMax val="5"/>
          <dgm:dir/>
          <dgm:resizeHandles val="exact"/>
        </dgm:presLayoutVars>
      </dgm:prSet>
      <dgm:spPr/>
    </dgm:pt>
    <dgm:pt modelId="{CC91A17E-D271-437D-9413-AFE58156A2E3}" type="pres">
      <dgm:prSet presAssocID="{D251C30E-B394-4D23-9D00-A84EF39E7A59}" presName="dummyMaxCanvas" presStyleCnt="0">
        <dgm:presLayoutVars/>
      </dgm:prSet>
      <dgm:spPr/>
    </dgm:pt>
    <dgm:pt modelId="{C0498268-C5A1-46B4-B70B-EC5B4B0451CB}" type="pres">
      <dgm:prSet presAssocID="{D251C30E-B394-4D23-9D00-A84EF39E7A59}" presName="TwoNodes_1" presStyleLbl="node1" presStyleIdx="0" presStyleCnt="2">
        <dgm:presLayoutVars>
          <dgm:bulletEnabled val="1"/>
        </dgm:presLayoutVars>
      </dgm:prSet>
      <dgm:spPr/>
    </dgm:pt>
    <dgm:pt modelId="{A4342237-7833-4860-9C1C-EE56A9FA7350}" type="pres">
      <dgm:prSet presAssocID="{D251C30E-B394-4D23-9D00-A84EF39E7A59}" presName="TwoNodes_2" presStyleLbl="node1" presStyleIdx="1" presStyleCnt="2">
        <dgm:presLayoutVars>
          <dgm:bulletEnabled val="1"/>
        </dgm:presLayoutVars>
      </dgm:prSet>
      <dgm:spPr/>
    </dgm:pt>
    <dgm:pt modelId="{3075DDF8-4CA0-4413-A641-B8E458035973}" type="pres">
      <dgm:prSet presAssocID="{D251C30E-B394-4D23-9D00-A84EF39E7A59}" presName="TwoConn_1-2" presStyleLbl="fgAccFollowNode1" presStyleIdx="0" presStyleCnt="1">
        <dgm:presLayoutVars>
          <dgm:bulletEnabled val="1"/>
        </dgm:presLayoutVars>
      </dgm:prSet>
      <dgm:spPr/>
    </dgm:pt>
    <dgm:pt modelId="{070ED342-5B04-42A0-B4C4-7036665FF3D4}" type="pres">
      <dgm:prSet presAssocID="{D251C30E-B394-4D23-9D00-A84EF39E7A59}" presName="TwoNodes_1_text" presStyleLbl="node1" presStyleIdx="1" presStyleCnt="2">
        <dgm:presLayoutVars>
          <dgm:bulletEnabled val="1"/>
        </dgm:presLayoutVars>
      </dgm:prSet>
      <dgm:spPr/>
    </dgm:pt>
    <dgm:pt modelId="{868F3FFC-8526-4675-A5F9-9584B392EFEB}" type="pres">
      <dgm:prSet presAssocID="{D251C30E-B394-4D23-9D00-A84EF39E7A59}" presName="TwoNodes_2_text" presStyleLbl="node1" presStyleIdx="1" presStyleCnt="2">
        <dgm:presLayoutVars>
          <dgm:bulletEnabled val="1"/>
        </dgm:presLayoutVars>
      </dgm:prSet>
      <dgm:spPr/>
    </dgm:pt>
  </dgm:ptLst>
  <dgm:cxnLst>
    <dgm:cxn modelId="{81C0BA43-FC10-408F-AE7A-FD46DFBFB03F}" type="presOf" srcId="{BE839AEB-0E9F-4430-961D-01F5EBDB06D8}" destId="{C0498268-C5A1-46B4-B70B-EC5B4B0451CB}" srcOrd="0" destOrd="0" presId="urn:microsoft.com/office/officeart/2005/8/layout/vProcess5"/>
    <dgm:cxn modelId="{8029E973-AB02-4AE7-A1E5-D5D5F0A3E05F}" type="presOf" srcId="{D251C30E-B394-4D23-9D00-A84EF39E7A59}" destId="{5C2B98E3-DBE8-4581-B0D6-ACDA4F3741AD}" srcOrd="0" destOrd="0" presId="urn:microsoft.com/office/officeart/2005/8/layout/vProcess5"/>
    <dgm:cxn modelId="{C435D789-C078-4804-9E10-BF544F9BA91B}" srcId="{D251C30E-B394-4D23-9D00-A84EF39E7A59}" destId="{BE839AEB-0E9F-4430-961D-01F5EBDB06D8}" srcOrd="0" destOrd="0" parTransId="{C412CDF3-363D-4FA3-B5BF-20812368A81E}" sibTransId="{2ED4F905-1079-4223-86A3-D722B454A388}"/>
    <dgm:cxn modelId="{9A526598-CAB1-4BA7-89A9-AC9CE7F6D8EE}" srcId="{D251C30E-B394-4D23-9D00-A84EF39E7A59}" destId="{08FD93A8-11E7-46B7-90FE-7FA8B2E75165}" srcOrd="1" destOrd="0" parTransId="{2823463D-12B3-4275-98CB-5824A62E2CE3}" sibTransId="{27E6DA63-DFC3-4ACB-AD25-E0373EBE402E}"/>
    <dgm:cxn modelId="{E3E29BB3-5C54-4DD6-9A20-93080C123692}" type="presOf" srcId="{08FD93A8-11E7-46B7-90FE-7FA8B2E75165}" destId="{868F3FFC-8526-4675-A5F9-9584B392EFEB}" srcOrd="1" destOrd="0" presId="urn:microsoft.com/office/officeart/2005/8/layout/vProcess5"/>
    <dgm:cxn modelId="{73124BB5-AB7B-4561-A423-526AC2F7C3FE}" type="presOf" srcId="{2ED4F905-1079-4223-86A3-D722B454A388}" destId="{3075DDF8-4CA0-4413-A641-B8E458035973}" srcOrd="0" destOrd="0" presId="urn:microsoft.com/office/officeart/2005/8/layout/vProcess5"/>
    <dgm:cxn modelId="{A5E97EB7-60FD-46EA-905F-6DC7DD813A1C}" type="presOf" srcId="{08FD93A8-11E7-46B7-90FE-7FA8B2E75165}" destId="{A4342237-7833-4860-9C1C-EE56A9FA7350}" srcOrd="0" destOrd="0" presId="urn:microsoft.com/office/officeart/2005/8/layout/vProcess5"/>
    <dgm:cxn modelId="{9E63A3E4-822A-48B4-9095-950F1CFB5DE9}" type="presOf" srcId="{BE839AEB-0E9F-4430-961D-01F5EBDB06D8}" destId="{070ED342-5B04-42A0-B4C4-7036665FF3D4}" srcOrd="1" destOrd="0" presId="urn:microsoft.com/office/officeart/2005/8/layout/vProcess5"/>
    <dgm:cxn modelId="{2C4A099B-3F05-4DB4-83F1-6964758CC0B5}" type="presParOf" srcId="{5C2B98E3-DBE8-4581-B0D6-ACDA4F3741AD}" destId="{CC91A17E-D271-437D-9413-AFE58156A2E3}" srcOrd="0" destOrd="0" presId="urn:microsoft.com/office/officeart/2005/8/layout/vProcess5"/>
    <dgm:cxn modelId="{FE17F46F-9A63-4D1A-B3F3-4B9281A50E91}" type="presParOf" srcId="{5C2B98E3-DBE8-4581-B0D6-ACDA4F3741AD}" destId="{C0498268-C5A1-46B4-B70B-EC5B4B0451CB}" srcOrd="1" destOrd="0" presId="urn:microsoft.com/office/officeart/2005/8/layout/vProcess5"/>
    <dgm:cxn modelId="{0F6B0476-6689-473D-A611-39DE92DF1054}" type="presParOf" srcId="{5C2B98E3-DBE8-4581-B0D6-ACDA4F3741AD}" destId="{A4342237-7833-4860-9C1C-EE56A9FA7350}" srcOrd="2" destOrd="0" presId="urn:microsoft.com/office/officeart/2005/8/layout/vProcess5"/>
    <dgm:cxn modelId="{10DAD463-AAFA-4E00-961E-0DB8A592E8D2}" type="presParOf" srcId="{5C2B98E3-DBE8-4581-B0D6-ACDA4F3741AD}" destId="{3075DDF8-4CA0-4413-A641-B8E458035973}" srcOrd="3" destOrd="0" presId="urn:microsoft.com/office/officeart/2005/8/layout/vProcess5"/>
    <dgm:cxn modelId="{E22A6AA1-26EC-40B5-8018-EBB9046C7592}" type="presParOf" srcId="{5C2B98E3-DBE8-4581-B0D6-ACDA4F3741AD}" destId="{070ED342-5B04-42A0-B4C4-7036665FF3D4}" srcOrd="4" destOrd="0" presId="urn:microsoft.com/office/officeart/2005/8/layout/vProcess5"/>
    <dgm:cxn modelId="{E82AF8E0-62A1-43B9-A84A-7C6F807EDA1F}" type="presParOf" srcId="{5C2B98E3-DBE8-4581-B0D6-ACDA4F3741AD}" destId="{868F3FFC-8526-4675-A5F9-9584B392EFEB}"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A67988-9B26-4CDF-AAA3-A4A657B9419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CF877649-D52A-459C-B893-3B25BA88B114}">
      <dgm:prSet/>
      <dgm:spPr/>
      <dgm:t>
        <a:bodyPr/>
        <a:lstStyle/>
        <a:p>
          <a:r>
            <a:rPr lang="en-US"/>
            <a:t>The accuracy of free throws showed a direct impact on a team’s scoring potential. Players with higher free throw accuracy significantly contribute to the scoreboard, especially during crucial moments.</a:t>
          </a:r>
        </a:p>
      </dgm:t>
    </dgm:pt>
    <dgm:pt modelId="{C54784D7-71E5-424D-9E10-E84A7AB9256F}" type="parTrans" cxnId="{57CA33F8-09FB-4D72-B28C-A2D64970EB72}">
      <dgm:prSet/>
      <dgm:spPr/>
      <dgm:t>
        <a:bodyPr/>
        <a:lstStyle/>
        <a:p>
          <a:endParaRPr lang="en-US"/>
        </a:p>
      </dgm:t>
    </dgm:pt>
    <dgm:pt modelId="{119B379C-C92A-476D-AFDB-C24B5287E3BE}" type="sibTrans" cxnId="{57CA33F8-09FB-4D72-B28C-A2D64970EB72}">
      <dgm:prSet/>
      <dgm:spPr/>
      <dgm:t>
        <a:bodyPr/>
        <a:lstStyle/>
        <a:p>
          <a:endParaRPr lang="en-US"/>
        </a:p>
      </dgm:t>
    </dgm:pt>
    <dgm:pt modelId="{C01E1983-8463-48A0-B5B6-87358C23E886}">
      <dgm:prSet/>
      <dgm:spPr/>
      <dgm:t>
        <a:bodyPr/>
        <a:lstStyle/>
        <a:p>
          <a:r>
            <a:rPr lang="en-US"/>
            <a:t>Improving free throw accuracy could elevate a player’s overall scoring contribution, particularly in high-pressure situations such as the final minutes of a game</a:t>
          </a:r>
        </a:p>
      </dgm:t>
    </dgm:pt>
    <dgm:pt modelId="{B29370AA-250A-40E1-AE9A-018AAEBB394D}" type="parTrans" cxnId="{644D2EAB-EAD9-4918-9475-2340C9FB6201}">
      <dgm:prSet/>
      <dgm:spPr/>
      <dgm:t>
        <a:bodyPr/>
        <a:lstStyle/>
        <a:p>
          <a:endParaRPr lang="en-US"/>
        </a:p>
      </dgm:t>
    </dgm:pt>
    <dgm:pt modelId="{70298819-B7DA-4C75-9B3D-395F2C50C717}" type="sibTrans" cxnId="{644D2EAB-EAD9-4918-9475-2340C9FB6201}">
      <dgm:prSet/>
      <dgm:spPr/>
      <dgm:t>
        <a:bodyPr/>
        <a:lstStyle/>
        <a:p>
          <a:endParaRPr lang="en-US"/>
        </a:p>
      </dgm:t>
    </dgm:pt>
    <dgm:pt modelId="{2ACE4694-44E2-4E0D-8E58-06C60420B824}" type="pres">
      <dgm:prSet presAssocID="{0DA67988-9B26-4CDF-AAA3-A4A657B94192}" presName="outerComposite" presStyleCnt="0">
        <dgm:presLayoutVars>
          <dgm:chMax val="5"/>
          <dgm:dir/>
          <dgm:resizeHandles val="exact"/>
        </dgm:presLayoutVars>
      </dgm:prSet>
      <dgm:spPr/>
    </dgm:pt>
    <dgm:pt modelId="{4185141D-C0AA-44FC-9497-DAA4374F4796}" type="pres">
      <dgm:prSet presAssocID="{0DA67988-9B26-4CDF-AAA3-A4A657B94192}" presName="dummyMaxCanvas" presStyleCnt="0">
        <dgm:presLayoutVars/>
      </dgm:prSet>
      <dgm:spPr/>
    </dgm:pt>
    <dgm:pt modelId="{2CA12E99-46A0-4E57-81C1-A35183C89CEB}" type="pres">
      <dgm:prSet presAssocID="{0DA67988-9B26-4CDF-AAA3-A4A657B94192}" presName="TwoNodes_1" presStyleLbl="node1" presStyleIdx="0" presStyleCnt="2">
        <dgm:presLayoutVars>
          <dgm:bulletEnabled val="1"/>
        </dgm:presLayoutVars>
      </dgm:prSet>
      <dgm:spPr/>
    </dgm:pt>
    <dgm:pt modelId="{76688043-FD31-42D1-859B-84C71E05AAD2}" type="pres">
      <dgm:prSet presAssocID="{0DA67988-9B26-4CDF-AAA3-A4A657B94192}" presName="TwoNodes_2" presStyleLbl="node1" presStyleIdx="1" presStyleCnt="2">
        <dgm:presLayoutVars>
          <dgm:bulletEnabled val="1"/>
        </dgm:presLayoutVars>
      </dgm:prSet>
      <dgm:spPr/>
    </dgm:pt>
    <dgm:pt modelId="{C3BBC541-4439-4A9E-BA21-16FAAED09F65}" type="pres">
      <dgm:prSet presAssocID="{0DA67988-9B26-4CDF-AAA3-A4A657B94192}" presName="TwoConn_1-2" presStyleLbl="fgAccFollowNode1" presStyleIdx="0" presStyleCnt="1">
        <dgm:presLayoutVars>
          <dgm:bulletEnabled val="1"/>
        </dgm:presLayoutVars>
      </dgm:prSet>
      <dgm:spPr/>
    </dgm:pt>
    <dgm:pt modelId="{31A31C40-88C0-45BC-9BB5-1D105919ABB5}" type="pres">
      <dgm:prSet presAssocID="{0DA67988-9B26-4CDF-AAA3-A4A657B94192}" presName="TwoNodes_1_text" presStyleLbl="node1" presStyleIdx="1" presStyleCnt="2">
        <dgm:presLayoutVars>
          <dgm:bulletEnabled val="1"/>
        </dgm:presLayoutVars>
      </dgm:prSet>
      <dgm:spPr/>
    </dgm:pt>
    <dgm:pt modelId="{63F47D75-1719-454D-84FA-E6A62F47AD47}" type="pres">
      <dgm:prSet presAssocID="{0DA67988-9B26-4CDF-AAA3-A4A657B94192}" presName="TwoNodes_2_text" presStyleLbl="node1" presStyleIdx="1" presStyleCnt="2">
        <dgm:presLayoutVars>
          <dgm:bulletEnabled val="1"/>
        </dgm:presLayoutVars>
      </dgm:prSet>
      <dgm:spPr/>
    </dgm:pt>
  </dgm:ptLst>
  <dgm:cxnLst>
    <dgm:cxn modelId="{8C06EF0E-C625-495E-94D1-FA734E935843}" type="presOf" srcId="{C01E1983-8463-48A0-B5B6-87358C23E886}" destId="{63F47D75-1719-454D-84FA-E6A62F47AD47}" srcOrd="1" destOrd="0" presId="urn:microsoft.com/office/officeart/2005/8/layout/vProcess5"/>
    <dgm:cxn modelId="{FCA53711-5519-458F-B402-CDAA6FEBAD5C}" type="presOf" srcId="{119B379C-C92A-476D-AFDB-C24B5287E3BE}" destId="{C3BBC541-4439-4A9E-BA21-16FAAED09F65}" srcOrd="0" destOrd="0" presId="urn:microsoft.com/office/officeart/2005/8/layout/vProcess5"/>
    <dgm:cxn modelId="{16D8D933-13AC-42C5-B08C-8E526ABDEC06}" type="presOf" srcId="{CF877649-D52A-459C-B893-3B25BA88B114}" destId="{31A31C40-88C0-45BC-9BB5-1D105919ABB5}" srcOrd="1" destOrd="0" presId="urn:microsoft.com/office/officeart/2005/8/layout/vProcess5"/>
    <dgm:cxn modelId="{B1305F3C-6B0A-41AF-B001-8F834961E9E5}" type="presOf" srcId="{CF877649-D52A-459C-B893-3B25BA88B114}" destId="{2CA12E99-46A0-4E57-81C1-A35183C89CEB}" srcOrd="0" destOrd="0" presId="urn:microsoft.com/office/officeart/2005/8/layout/vProcess5"/>
    <dgm:cxn modelId="{23977A7F-5E92-42D4-B230-960DC072E2A7}" type="presOf" srcId="{0DA67988-9B26-4CDF-AAA3-A4A657B94192}" destId="{2ACE4694-44E2-4E0D-8E58-06C60420B824}" srcOrd="0" destOrd="0" presId="urn:microsoft.com/office/officeart/2005/8/layout/vProcess5"/>
    <dgm:cxn modelId="{644D2EAB-EAD9-4918-9475-2340C9FB6201}" srcId="{0DA67988-9B26-4CDF-AAA3-A4A657B94192}" destId="{C01E1983-8463-48A0-B5B6-87358C23E886}" srcOrd="1" destOrd="0" parTransId="{B29370AA-250A-40E1-AE9A-018AAEBB394D}" sibTransId="{70298819-B7DA-4C75-9B3D-395F2C50C717}"/>
    <dgm:cxn modelId="{57CA33F8-09FB-4D72-B28C-A2D64970EB72}" srcId="{0DA67988-9B26-4CDF-AAA3-A4A657B94192}" destId="{CF877649-D52A-459C-B893-3B25BA88B114}" srcOrd="0" destOrd="0" parTransId="{C54784D7-71E5-424D-9E10-E84A7AB9256F}" sibTransId="{119B379C-C92A-476D-AFDB-C24B5287E3BE}"/>
    <dgm:cxn modelId="{78EEDAFB-625D-4F5F-8CF7-426F6E9F24C0}" type="presOf" srcId="{C01E1983-8463-48A0-B5B6-87358C23E886}" destId="{76688043-FD31-42D1-859B-84C71E05AAD2}" srcOrd="0" destOrd="0" presId="urn:microsoft.com/office/officeart/2005/8/layout/vProcess5"/>
    <dgm:cxn modelId="{7121E396-A85F-43AD-B88E-970F788B43F6}" type="presParOf" srcId="{2ACE4694-44E2-4E0D-8E58-06C60420B824}" destId="{4185141D-C0AA-44FC-9497-DAA4374F4796}" srcOrd="0" destOrd="0" presId="urn:microsoft.com/office/officeart/2005/8/layout/vProcess5"/>
    <dgm:cxn modelId="{0BFE63E0-187F-4F1B-A053-7A2B46B133E0}" type="presParOf" srcId="{2ACE4694-44E2-4E0D-8E58-06C60420B824}" destId="{2CA12E99-46A0-4E57-81C1-A35183C89CEB}" srcOrd="1" destOrd="0" presId="urn:microsoft.com/office/officeart/2005/8/layout/vProcess5"/>
    <dgm:cxn modelId="{FB04C59C-8798-4C71-BA88-743CD02AF14D}" type="presParOf" srcId="{2ACE4694-44E2-4E0D-8E58-06C60420B824}" destId="{76688043-FD31-42D1-859B-84C71E05AAD2}" srcOrd="2" destOrd="0" presId="urn:microsoft.com/office/officeart/2005/8/layout/vProcess5"/>
    <dgm:cxn modelId="{E7715F3A-0CAF-41C7-8327-AC40AC7C0E2E}" type="presParOf" srcId="{2ACE4694-44E2-4E0D-8E58-06C60420B824}" destId="{C3BBC541-4439-4A9E-BA21-16FAAED09F65}" srcOrd="3" destOrd="0" presId="urn:microsoft.com/office/officeart/2005/8/layout/vProcess5"/>
    <dgm:cxn modelId="{40F96E6A-C724-498F-9DA9-72B096735616}" type="presParOf" srcId="{2ACE4694-44E2-4E0D-8E58-06C60420B824}" destId="{31A31C40-88C0-45BC-9BB5-1D105919ABB5}" srcOrd="4" destOrd="0" presId="urn:microsoft.com/office/officeart/2005/8/layout/vProcess5"/>
    <dgm:cxn modelId="{0380104A-A5F1-40C2-BEA1-600DB98E3B49}" type="presParOf" srcId="{2ACE4694-44E2-4E0D-8E58-06C60420B824}" destId="{63F47D75-1719-454D-84FA-E6A62F47AD47}"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F1D633-F259-4F5C-8182-01D544362395}"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34561AD-AE51-466C-9557-AAF758D3F7CF}">
      <dgm:prSet/>
      <dgm:spPr/>
      <dgm:t>
        <a:bodyPr/>
        <a:lstStyle/>
        <a:p>
          <a:r>
            <a:rPr lang="en-US" dirty="0"/>
            <a:t>When analyzing player tendencies (excluding free throws), some players heavily favor 2-point shots, particularly those who prefer closer shots or play near the paint.</a:t>
          </a:r>
        </a:p>
      </dgm:t>
    </dgm:pt>
    <dgm:pt modelId="{4DCAB50B-35E0-42D5-B245-8E286AAE594C}" type="parTrans" cxnId="{9FF7788A-ACE0-461F-8268-970898320A6E}">
      <dgm:prSet/>
      <dgm:spPr/>
      <dgm:t>
        <a:bodyPr/>
        <a:lstStyle/>
        <a:p>
          <a:endParaRPr lang="en-US"/>
        </a:p>
      </dgm:t>
    </dgm:pt>
    <dgm:pt modelId="{045F1BC7-44F2-4262-8B9B-F8BF888479F9}" type="sibTrans" cxnId="{9FF7788A-ACE0-461F-8268-970898320A6E}">
      <dgm:prSet/>
      <dgm:spPr/>
      <dgm:t>
        <a:bodyPr/>
        <a:lstStyle/>
        <a:p>
          <a:endParaRPr lang="en-US"/>
        </a:p>
      </dgm:t>
    </dgm:pt>
    <dgm:pt modelId="{90083F71-13D4-4176-9D5C-A3D3AB5481DF}">
      <dgm:prSet/>
      <dgm:spPr/>
      <dgm:t>
        <a:bodyPr/>
        <a:lstStyle/>
        <a:p>
          <a:r>
            <a:rPr lang="en-US"/>
            <a:t>Conversely, players with a strong preference for 3-point shooting tend to focus on perimeter play, offering different strategic benefits such as floor spacing and stretching the defense.</a:t>
          </a:r>
        </a:p>
      </dgm:t>
    </dgm:pt>
    <dgm:pt modelId="{FA0869C6-CD50-4762-9D06-176847CB30FE}" type="parTrans" cxnId="{74EB4F07-9018-450F-AF08-BC3A129AB230}">
      <dgm:prSet/>
      <dgm:spPr/>
      <dgm:t>
        <a:bodyPr/>
        <a:lstStyle/>
        <a:p>
          <a:endParaRPr lang="en-US"/>
        </a:p>
      </dgm:t>
    </dgm:pt>
    <dgm:pt modelId="{BD5DE6C9-3DCE-4397-B523-3454E190CB14}" type="sibTrans" cxnId="{74EB4F07-9018-450F-AF08-BC3A129AB230}">
      <dgm:prSet/>
      <dgm:spPr/>
      <dgm:t>
        <a:bodyPr/>
        <a:lstStyle/>
        <a:p>
          <a:endParaRPr lang="en-US"/>
        </a:p>
      </dgm:t>
    </dgm:pt>
    <dgm:pt modelId="{01188B0B-4C40-4074-AE07-26600B68E717}" type="pres">
      <dgm:prSet presAssocID="{4AF1D633-F259-4F5C-8182-01D544362395}" presName="hierChild1" presStyleCnt="0">
        <dgm:presLayoutVars>
          <dgm:chPref val="1"/>
          <dgm:dir/>
          <dgm:animOne val="branch"/>
          <dgm:animLvl val="lvl"/>
          <dgm:resizeHandles/>
        </dgm:presLayoutVars>
      </dgm:prSet>
      <dgm:spPr/>
    </dgm:pt>
    <dgm:pt modelId="{06A5D0A9-76B0-4A1E-BE66-27BEFC81B007}" type="pres">
      <dgm:prSet presAssocID="{734561AD-AE51-466C-9557-AAF758D3F7CF}" presName="hierRoot1" presStyleCnt="0"/>
      <dgm:spPr/>
    </dgm:pt>
    <dgm:pt modelId="{8290FDDB-D3AD-4986-A1AF-0DC042A25BE2}" type="pres">
      <dgm:prSet presAssocID="{734561AD-AE51-466C-9557-AAF758D3F7CF}" presName="composite" presStyleCnt="0"/>
      <dgm:spPr/>
    </dgm:pt>
    <dgm:pt modelId="{F264F287-10E1-4F90-A637-B9EB6EE9BE80}" type="pres">
      <dgm:prSet presAssocID="{734561AD-AE51-466C-9557-AAF758D3F7CF}" presName="background" presStyleLbl="node0" presStyleIdx="0" presStyleCnt="2"/>
      <dgm:spPr/>
    </dgm:pt>
    <dgm:pt modelId="{ED7E7B99-082A-4E81-9EC5-019BAB1531D3}" type="pres">
      <dgm:prSet presAssocID="{734561AD-AE51-466C-9557-AAF758D3F7CF}" presName="text" presStyleLbl="fgAcc0" presStyleIdx="0" presStyleCnt="2">
        <dgm:presLayoutVars>
          <dgm:chPref val="3"/>
        </dgm:presLayoutVars>
      </dgm:prSet>
      <dgm:spPr/>
    </dgm:pt>
    <dgm:pt modelId="{8404A341-6F2A-444C-BEAA-D0FE53EB3CF8}" type="pres">
      <dgm:prSet presAssocID="{734561AD-AE51-466C-9557-AAF758D3F7CF}" presName="hierChild2" presStyleCnt="0"/>
      <dgm:spPr/>
    </dgm:pt>
    <dgm:pt modelId="{347F6746-26A3-4F0F-AEFB-5618CF454DF8}" type="pres">
      <dgm:prSet presAssocID="{90083F71-13D4-4176-9D5C-A3D3AB5481DF}" presName="hierRoot1" presStyleCnt="0"/>
      <dgm:spPr/>
    </dgm:pt>
    <dgm:pt modelId="{ADDD3F2A-7C0A-41E1-8630-A090F1A82A7D}" type="pres">
      <dgm:prSet presAssocID="{90083F71-13D4-4176-9D5C-A3D3AB5481DF}" presName="composite" presStyleCnt="0"/>
      <dgm:spPr/>
    </dgm:pt>
    <dgm:pt modelId="{B8061CE0-FE3B-40AD-9DD5-9D022ED351A4}" type="pres">
      <dgm:prSet presAssocID="{90083F71-13D4-4176-9D5C-A3D3AB5481DF}" presName="background" presStyleLbl="node0" presStyleIdx="1" presStyleCnt="2"/>
      <dgm:spPr/>
    </dgm:pt>
    <dgm:pt modelId="{51AF8549-8E2C-40B0-99A1-C3F8CF6C1D80}" type="pres">
      <dgm:prSet presAssocID="{90083F71-13D4-4176-9D5C-A3D3AB5481DF}" presName="text" presStyleLbl="fgAcc0" presStyleIdx="1" presStyleCnt="2">
        <dgm:presLayoutVars>
          <dgm:chPref val="3"/>
        </dgm:presLayoutVars>
      </dgm:prSet>
      <dgm:spPr/>
    </dgm:pt>
    <dgm:pt modelId="{D040A8AC-3508-4AFB-A1CF-618FA61853A8}" type="pres">
      <dgm:prSet presAssocID="{90083F71-13D4-4176-9D5C-A3D3AB5481DF}" presName="hierChild2" presStyleCnt="0"/>
      <dgm:spPr/>
    </dgm:pt>
  </dgm:ptLst>
  <dgm:cxnLst>
    <dgm:cxn modelId="{4B23FE01-44E3-44C1-96A8-7B78938E4384}" type="presOf" srcId="{90083F71-13D4-4176-9D5C-A3D3AB5481DF}" destId="{51AF8549-8E2C-40B0-99A1-C3F8CF6C1D80}" srcOrd="0" destOrd="0" presId="urn:microsoft.com/office/officeart/2005/8/layout/hierarchy1"/>
    <dgm:cxn modelId="{74EB4F07-9018-450F-AF08-BC3A129AB230}" srcId="{4AF1D633-F259-4F5C-8182-01D544362395}" destId="{90083F71-13D4-4176-9D5C-A3D3AB5481DF}" srcOrd="1" destOrd="0" parTransId="{FA0869C6-CD50-4762-9D06-176847CB30FE}" sibTransId="{BD5DE6C9-3DCE-4397-B523-3454E190CB14}"/>
    <dgm:cxn modelId="{D8BEF928-51B6-4068-A193-E2F35DA78CC5}" type="presOf" srcId="{734561AD-AE51-466C-9557-AAF758D3F7CF}" destId="{ED7E7B99-082A-4E81-9EC5-019BAB1531D3}" srcOrd="0" destOrd="0" presId="urn:microsoft.com/office/officeart/2005/8/layout/hierarchy1"/>
    <dgm:cxn modelId="{9FF7788A-ACE0-461F-8268-970898320A6E}" srcId="{4AF1D633-F259-4F5C-8182-01D544362395}" destId="{734561AD-AE51-466C-9557-AAF758D3F7CF}" srcOrd="0" destOrd="0" parTransId="{4DCAB50B-35E0-42D5-B245-8E286AAE594C}" sibTransId="{045F1BC7-44F2-4262-8B9B-F8BF888479F9}"/>
    <dgm:cxn modelId="{CCE6A7E9-21C4-4A48-8BF0-54C9C22FA555}" type="presOf" srcId="{4AF1D633-F259-4F5C-8182-01D544362395}" destId="{01188B0B-4C40-4074-AE07-26600B68E717}" srcOrd="0" destOrd="0" presId="urn:microsoft.com/office/officeart/2005/8/layout/hierarchy1"/>
    <dgm:cxn modelId="{70685058-0493-4DCD-8649-D0ABA9964938}" type="presParOf" srcId="{01188B0B-4C40-4074-AE07-26600B68E717}" destId="{06A5D0A9-76B0-4A1E-BE66-27BEFC81B007}" srcOrd="0" destOrd="0" presId="urn:microsoft.com/office/officeart/2005/8/layout/hierarchy1"/>
    <dgm:cxn modelId="{30AAE253-C229-4D7A-ABB6-F0DEA7EB58D2}" type="presParOf" srcId="{06A5D0A9-76B0-4A1E-BE66-27BEFC81B007}" destId="{8290FDDB-D3AD-4986-A1AF-0DC042A25BE2}" srcOrd="0" destOrd="0" presId="urn:microsoft.com/office/officeart/2005/8/layout/hierarchy1"/>
    <dgm:cxn modelId="{9E5884E9-8B86-49FE-B7F6-7DDDBAD48B3F}" type="presParOf" srcId="{8290FDDB-D3AD-4986-A1AF-0DC042A25BE2}" destId="{F264F287-10E1-4F90-A637-B9EB6EE9BE80}" srcOrd="0" destOrd="0" presId="urn:microsoft.com/office/officeart/2005/8/layout/hierarchy1"/>
    <dgm:cxn modelId="{6898ED7A-0055-4758-99B5-4B1DC0C5D460}" type="presParOf" srcId="{8290FDDB-D3AD-4986-A1AF-0DC042A25BE2}" destId="{ED7E7B99-082A-4E81-9EC5-019BAB1531D3}" srcOrd="1" destOrd="0" presId="urn:microsoft.com/office/officeart/2005/8/layout/hierarchy1"/>
    <dgm:cxn modelId="{DA46F6B6-20A1-4D95-AE2D-87BFBB60E25A}" type="presParOf" srcId="{06A5D0A9-76B0-4A1E-BE66-27BEFC81B007}" destId="{8404A341-6F2A-444C-BEAA-D0FE53EB3CF8}" srcOrd="1" destOrd="0" presId="urn:microsoft.com/office/officeart/2005/8/layout/hierarchy1"/>
    <dgm:cxn modelId="{7EA87FA3-30E1-42BB-B002-68162BA8A4FF}" type="presParOf" srcId="{01188B0B-4C40-4074-AE07-26600B68E717}" destId="{347F6746-26A3-4F0F-AEFB-5618CF454DF8}" srcOrd="1" destOrd="0" presId="urn:microsoft.com/office/officeart/2005/8/layout/hierarchy1"/>
    <dgm:cxn modelId="{7D89958C-0B87-45FF-A8A9-2FE876D4F1B6}" type="presParOf" srcId="{347F6746-26A3-4F0F-AEFB-5618CF454DF8}" destId="{ADDD3F2A-7C0A-41E1-8630-A090F1A82A7D}" srcOrd="0" destOrd="0" presId="urn:microsoft.com/office/officeart/2005/8/layout/hierarchy1"/>
    <dgm:cxn modelId="{53E94D25-4D5A-44D7-872A-810F027868BE}" type="presParOf" srcId="{ADDD3F2A-7C0A-41E1-8630-A090F1A82A7D}" destId="{B8061CE0-FE3B-40AD-9DD5-9D022ED351A4}" srcOrd="0" destOrd="0" presId="urn:microsoft.com/office/officeart/2005/8/layout/hierarchy1"/>
    <dgm:cxn modelId="{A090779F-F31D-4947-88C0-6C2FD1AFF6B5}" type="presParOf" srcId="{ADDD3F2A-7C0A-41E1-8630-A090F1A82A7D}" destId="{51AF8549-8E2C-40B0-99A1-C3F8CF6C1D80}" srcOrd="1" destOrd="0" presId="urn:microsoft.com/office/officeart/2005/8/layout/hierarchy1"/>
    <dgm:cxn modelId="{5F3560FE-09F1-45F1-9048-613ADAF86EE3}" type="presParOf" srcId="{347F6746-26A3-4F0F-AEFB-5618CF454DF8}" destId="{D040A8AC-3508-4AFB-A1CF-618FA61853A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98268-C5A1-46B4-B70B-EC5B4B0451CB}">
      <dsp:nvSpPr>
        <dsp:cNvPr id="0" name=""/>
        <dsp:cNvSpPr/>
      </dsp:nvSpPr>
      <dsp:spPr>
        <a:xfrm>
          <a:off x="0" y="0"/>
          <a:ext cx="9288654" cy="166023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The data revealed that the number of free throw attempts varied significantly between players and games. This variance may be influenced by the style of play, aggressiveness in driving to the basket, and drawing fouls.</a:t>
          </a:r>
        </a:p>
      </dsp:txBody>
      <dsp:txXfrm>
        <a:off x="48627" y="48627"/>
        <a:ext cx="7572674" cy="1562978"/>
      </dsp:txXfrm>
    </dsp:sp>
    <dsp:sp modelId="{A4342237-7833-4860-9C1C-EE56A9FA7350}">
      <dsp:nvSpPr>
        <dsp:cNvPr id="0" name=""/>
        <dsp:cNvSpPr/>
      </dsp:nvSpPr>
      <dsp:spPr>
        <a:xfrm>
          <a:off x="1639174" y="2029172"/>
          <a:ext cx="9288654" cy="166023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Players who often engage in close contact play or drive towards the basket tend to earn more free throw opportunities, indicating their aggressive play style.</a:t>
          </a:r>
        </a:p>
      </dsp:txBody>
      <dsp:txXfrm>
        <a:off x="1687801" y="2077799"/>
        <a:ext cx="6473075" cy="1562978"/>
      </dsp:txXfrm>
    </dsp:sp>
    <dsp:sp modelId="{3075DDF8-4CA0-4413-A641-B8E458035973}">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12E99-46A0-4E57-81C1-A35183C89CEB}">
      <dsp:nvSpPr>
        <dsp:cNvPr id="0" name=""/>
        <dsp:cNvSpPr/>
      </dsp:nvSpPr>
      <dsp:spPr>
        <a:xfrm>
          <a:off x="0" y="0"/>
          <a:ext cx="9288654" cy="166023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accuracy of free throws showed a direct impact on a team’s scoring potential. Players with higher free throw accuracy significantly contribute to the scoreboard, especially during crucial moments.</a:t>
          </a:r>
        </a:p>
      </dsp:txBody>
      <dsp:txXfrm>
        <a:off x="48627" y="48627"/>
        <a:ext cx="7572674" cy="1562978"/>
      </dsp:txXfrm>
    </dsp:sp>
    <dsp:sp modelId="{76688043-FD31-42D1-859B-84C71E05AAD2}">
      <dsp:nvSpPr>
        <dsp:cNvPr id="0" name=""/>
        <dsp:cNvSpPr/>
      </dsp:nvSpPr>
      <dsp:spPr>
        <a:xfrm>
          <a:off x="1639174" y="2029172"/>
          <a:ext cx="9288654" cy="166023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Improving free throw accuracy could elevate a player’s overall scoring contribution, particularly in high-pressure situations such as the final minutes of a game</a:t>
          </a:r>
        </a:p>
      </dsp:txBody>
      <dsp:txXfrm>
        <a:off x="1687801" y="2077799"/>
        <a:ext cx="6473075" cy="1562978"/>
      </dsp:txXfrm>
    </dsp:sp>
    <dsp:sp modelId="{C3BBC541-4439-4A9E-BA21-16FAAED09F65}">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4F287-10E1-4F90-A637-B9EB6EE9BE80}">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7E7B99-082A-4E81-9EC5-019BAB1531D3}">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When analyzing player tendencies (excluding free throws), some players heavily favor 2-point shots, particularly those who prefer closer shots or play near the paint.</a:t>
          </a:r>
        </a:p>
      </dsp:txBody>
      <dsp:txXfrm>
        <a:off x="608661" y="692298"/>
        <a:ext cx="4508047" cy="2799040"/>
      </dsp:txXfrm>
    </dsp:sp>
    <dsp:sp modelId="{B8061CE0-FE3B-40AD-9DD5-9D022ED351A4}">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F8549-8E2C-40B0-99A1-C3F8CF6C1D80}">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Conversely, players with a strong preference for 3-point shooting tend to focus on perimeter play, offering different strategic benefits such as floor spacing and stretching the defense.</a:t>
          </a:r>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43A27A-8E36-4023-A676-D633C30CE514}" type="datetimeFigureOut">
              <a:rPr lang="en-ZA" smtClean="0"/>
              <a:t>2024/09/24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4B63E-F9CB-41EC-BAD2-B3658B742B8E}" type="slidenum">
              <a:rPr lang="en-ZA" smtClean="0"/>
              <a:t>‹#›</a:t>
            </a:fld>
            <a:endParaRPr lang="en-ZA"/>
          </a:p>
        </p:txBody>
      </p:sp>
    </p:spTree>
    <p:extLst>
      <p:ext uri="{BB962C8B-B14F-4D97-AF65-F5344CB8AC3E}">
        <p14:creationId xmlns:p14="http://schemas.microsoft.com/office/powerpoint/2010/main" val="268370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suggests that teams should focus not only on shot selection but also on enhancing players' ability to </a:t>
            </a:r>
            <a:r>
              <a:rPr lang="en-US" b="1" dirty="0"/>
              <a:t>convert free throws consistently</a:t>
            </a:r>
            <a:r>
              <a:rPr lang="en-US" dirty="0"/>
              <a:t>, as these "free points" are pivotal in game outcomes.</a:t>
            </a:r>
            <a:endParaRPr lang="en-ZA" dirty="0"/>
          </a:p>
        </p:txBody>
      </p:sp>
      <p:sp>
        <p:nvSpPr>
          <p:cNvPr id="4" name="Slide Number Placeholder 3"/>
          <p:cNvSpPr>
            <a:spLocks noGrp="1"/>
          </p:cNvSpPr>
          <p:nvPr>
            <p:ph type="sldNum" sz="quarter" idx="5"/>
          </p:nvPr>
        </p:nvSpPr>
        <p:spPr/>
        <p:txBody>
          <a:bodyPr/>
          <a:lstStyle/>
          <a:p>
            <a:fld id="{6974B63E-F9CB-41EC-BAD2-B3658B742B8E}" type="slidenum">
              <a:rPr lang="en-ZA" smtClean="0"/>
              <a:t>9</a:t>
            </a:fld>
            <a:endParaRPr lang="en-ZA"/>
          </a:p>
        </p:txBody>
      </p:sp>
    </p:spTree>
    <p:extLst>
      <p:ext uri="{BB962C8B-B14F-4D97-AF65-F5344CB8AC3E}">
        <p14:creationId xmlns:p14="http://schemas.microsoft.com/office/powerpoint/2010/main" val="422766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2A05-ECC3-3A14-7AFC-27D467AF1A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E4F4345-7C97-0A63-1EEF-D1AEC6BA06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17103CD-06C9-2279-C10C-73307F8D8DDF}"/>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5988878D-6EAE-AB53-281C-8BA056EA5CE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5CD33BC-33A6-CFD3-3AE8-187A87E3E5D0}"/>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3815783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598CB-A73E-2793-640B-97B9D473D0D1}"/>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9F10290-AFB2-D222-8DEE-DF9BDBD32C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C0EF8B3-55B5-A93E-E791-6EDEB74B37F9}"/>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631FD4CC-2FAF-C6DA-E55E-336018FE7B9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B9ECCEA-DA16-96E6-6441-F97AEF0C7895}"/>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105699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03428-0214-EC03-45B2-1610C17E90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5375B4B-860C-687B-A7F1-D35B082C41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2DEF1D-A08B-002E-9E13-D78431AB58FF}"/>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9E636A03-5853-B370-A5E0-3B2C1D81173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238E6B4-FE72-D65B-A989-8ADE85385370}"/>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3426545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BB1B-A9A5-1271-0C93-79482B34846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F5A5A63-DB8E-2AB3-AF8D-B84940F345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F215DDC-E680-C86A-2EAB-FDCD23830F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8FC8270-1040-2D75-9D48-BAFE5EA43537}"/>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6" name="Footer Placeholder 5">
            <a:extLst>
              <a:ext uri="{FF2B5EF4-FFF2-40B4-BE49-F238E27FC236}">
                <a16:creationId xmlns:a16="http://schemas.microsoft.com/office/drawing/2014/main" id="{81A133CA-DFF2-38F7-D9CE-968F94F3842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CB58A26-A640-AFB7-6E20-693C317DEF6A}"/>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1261410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D1E52-2346-233B-DE84-06F52628A4AF}"/>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6C1B462-9385-43E6-68F1-F65D092769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7045CA-BA91-3456-1362-FE47A5C8E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400CF4F-4B5F-F7B6-DB23-5ECDDD460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502AAE-E88A-DCF5-E7B2-6C0C3D2BA1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86EDCF8-ED5A-EF7C-E94F-A09F969A12C1}"/>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8" name="Footer Placeholder 7">
            <a:extLst>
              <a:ext uri="{FF2B5EF4-FFF2-40B4-BE49-F238E27FC236}">
                <a16:creationId xmlns:a16="http://schemas.microsoft.com/office/drawing/2014/main" id="{45D16A4D-65F3-4FAF-98A9-0C50C970FAD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D0E76615-DAEC-2DA6-C29E-83AEE2E50CAE}"/>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122883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B8304-8AEA-E9E7-C475-F1E47D1ADC70}"/>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9728322-BC75-945E-4145-36D6A9E69C0E}"/>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4" name="Footer Placeholder 3">
            <a:extLst>
              <a:ext uri="{FF2B5EF4-FFF2-40B4-BE49-F238E27FC236}">
                <a16:creationId xmlns:a16="http://schemas.microsoft.com/office/drawing/2014/main" id="{FF64EE98-F68A-3E82-FF5F-8BD626D89ECE}"/>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A330E1BE-BA3B-6B3F-D3BC-6B5E9DA63EF4}"/>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2094109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21804F-047B-0947-ED3F-3B8D69955615}"/>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3" name="Footer Placeholder 2">
            <a:extLst>
              <a:ext uri="{FF2B5EF4-FFF2-40B4-BE49-F238E27FC236}">
                <a16:creationId xmlns:a16="http://schemas.microsoft.com/office/drawing/2014/main" id="{C4EC006A-A637-4F17-6A5A-89001F6BB472}"/>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DC9F99D-E7FB-9283-4293-B1DF71139D41}"/>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165357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AB107-A80A-8236-8883-426B7E7BD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4AEF50F-49C8-F7F5-CBCA-3CC2C0D927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76DCD49-D630-F5BC-D04F-B1A9B30C1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303E86-9043-0A80-CA09-01D771216A33}"/>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6" name="Footer Placeholder 5">
            <a:extLst>
              <a:ext uri="{FF2B5EF4-FFF2-40B4-BE49-F238E27FC236}">
                <a16:creationId xmlns:a16="http://schemas.microsoft.com/office/drawing/2014/main" id="{44F9CEBD-9792-B683-FAD3-3D32178A7F2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9B0F064-804C-F5D6-E98C-7901646C22C9}"/>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508811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E4B08-53BC-8E8F-560B-C11BC9EAB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BBF9037F-BC12-2C2A-7BBE-F08A9C000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07E23AD3-9770-1674-059F-5D1D55C62E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AA571-F879-C6D8-701B-EC78E4D47BCF}"/>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6" name="Footer Placeholder 5">
            <a:extLst>
              <a:ext uri="{FF2B5EF4-FFF2-40B4-BE49-F238E27FC236}">
                <a16:creationId xmlns:a16="http://schemas.microsoft.com/office/drawing/2014/main" id="{3AC79A88-3322-0094-D463-B4E81F53D6A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684CFE6-03B7-5F2F-7DE0-258605E555F8}"/>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82345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3012C-454D-13B2-9571-2D447844A658}"/>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40904D6-1EFF-024E-5AEA-CECEBF46B4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8F9E800-54AE-8DCA-A997-F0F323CA5096}"/>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4DF66FA4-AC6F-1D74-5464-71927E8F9D1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89A954C-6708-ED3E-FEB5-20225BB4720D}"/>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2338401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0C683F-4AF6-1DC6-96FB-E8ABE45FDA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8F88CEA-86B6-DE1E-AD3B-011B5A9E65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05A576E-829E-9E10-DE0D-6396EED2DF9B}"/>
              </a:ext>
            </a:extLst>
          </p:cNvPr>
          <p:cNvSpPr>
            <a:spLocks noGrp="1"/>
          </p:cNvSpPr>
          <p:nvPr>
            <p:ph type="dt" sz="half" idx="10"/>
          </p:nvPr>
        </p:nvSpPr>
        <p:spPr/>
        <p:txBody>
          <a:body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46D4AE7F-7A13-DB07-44E4-582D6953B5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E7341EA-DDE9-69C2-FC5D-65D729A4F0F8}"/>
              </a:ext>
            </a:extLst>
          </p:cNvPr>
          <p:cNvSpPr>
            <a:spLocks noGrp="1"/>
          </p:cNvSpPr>
          <p:nvPr>
            <p:ph type="sldNum" sz="quarter" idx="12"/>
          </p:nvPr>
        </p:nvSpPr>
        <p:spPr/>
        <p:txBody>
          <a:bodyPr/>
          <a:lstStyle/>
          <a:p>
            <a:fld id="{51FC2715-D324-4DD1-9197-BD48A972DB59}" type="slidenum">
              <a:rPr lang="en-ZA" smtClean="0"/>
              <a:t>‹#›</a:t>
            </a:fld>
            <a:endParaRPr lang="en-ZA"/>
          </a:p>
        </p:txBody>
      </p:sp>
    </p:spTree>
    <p:extLst>
      <p:ext uri="{BB962C8B-B14F-4D97-AF65-F5344CB8AC3E}">
        <p14:creationId xmlns:p14="http://schemas.microsoft.com/office/powerpoint/2010/main" val="44043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3A54C2-05C9-0D1E-FD6B-D25DABCD5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CD313B2-091E-29FB-40A4-89ACF40F8A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7BBF801-ED52-6A0D-9145-379C087AB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33F949-511A-4DA2-9186-3497B202B96B}" type="datetimeFigureOut">
              <a:rPr lang="en-ZA" smtClean="0"/>
              <a:t>2024/09/24</a:t>
            </a:fld>
            <a:endParaRPr lang="en-ZA"/>
          </a:p>
        </p:txBody>
      </p:sp>
      <p:sp>
        <p:nvSpPr>
          <p:cNvPr id="5" name="Footer Placeholder 4">
            <a:extLst>
              <a:ext uri="{FF2B5EF4-FFF2-40B4-BE49-F238E27FC236}">
                <a16:creationId xmlns:a16="http://schemas.microsoft.com/office/drawing/2014/main" id="{E4ACBD1E-28DE-CBB9-3313-5693E8295F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B3390E9-D220-592A-31CC-AE5FA2125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C2715-D324-4DD1-9197-BD48A972DB59}" type="slidenum">
              <a:rPr lang="en-ZA" smtClean="0"/>
              <a:t>‹#›</a:t>
            </a:fld>
            <a:endParaRPr lang="en-ZA"/>
          </a:p>
        </p:txBody>
      </p:sp>
    </p:spTree>
    <p:extLst>
      <p:ext uri="{BB962C8B-B14F-4D97-AF65-F5344CB8AC3E}">
        <p14:creationId xmlns:p14="http://schemas.microsoft.com/office/powerpoint/2010/main" val="1458831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3" name="Picture 12" descr="Basketball being shot">
            <a:extLst>
              <a:ext uri="{FF2B5EF4-FFF2-40B4-BE49-F238E27FC236}">
                <a16:creationId xmlns:a16="http://schemas.microsoft.com/office/drawing/2014/main" id="{98E9D5AB-ABDD-F37B-ACE9-1878CCADFAEF}"/>
              </a:ext>
            </a:extLst>
          </p:cNvPr>
          <p:cNvPicPr>
            <a:picLocks noChangeAspect="1"/>
          </p:cNvPicPr>
          <p:nvPr/>
        </p:nvPicPr>
        <p:blipFill>
          <a:blip r:embed="rId2">
            <a:alphaModFix amt="60000"/>
          </a:blip>
          <a:srcRect t="15730"/>
          <a:stretch/>
        </p:blipFill>
        <p:spPr>
          <a:xfrm>
            <a:off x="-1" y="10"/>
            <a:ext cx="12192001" cy="6857990"/>
          </a:xfrm>
          <a:prstGeom prst="rect">
            <a:avLst/>
          </a:prstGeom>
        </p:spPr>
      </p:pic>
      <p:sp>
        <p:nvSpPr>
          <p:cNvPr id="2" name="Title 1">
            <a:extLst>
              <a:ext uri="{FF2B5EF4-FFF2-40B4-BE49-F238E27FC236}">
                <a16:creationId xmlns:a16="http://schemas.microsoft.com/office/drawing/2014/main" id="{ABD61D33-A4EF-5D83-424D-59CCFBAE25E8}"/>
              </a:ext>
            </a:extLst>
          </p:cNvPr>
          <p:cNvSpPr>
            <a:spLocks noGrp="1"/>
          </p:cNvSpPr>
          <p:nvPr>
            <p:ph type="ctrTitle"/>
          </p:nvPr>
        </p:nvSpPr>
        <p:spPr>
          <a:xfrm>
            <a:off x="841248" y="600427"/>
            <a:ext cx="9875520" cy="3299902"/>
          </a:xfrm>
        </p:spPr>
        <p:txBody>
          <a:bodyPr>
            <a:normAutofit/>
          </a:bodyPr>
          <a:lstStyle/>
          <a:p>
            <a:pPr algn="l"/>
            <a:r>
              <a:rPr lang="en-ZA" sz="8200" dirty="0">
                <a:solidFill>
                  <a:srgbClr val="FFFFFF"/>
                </a:solidFill>
              </a:rPr>
              <a:t>BASKETBALL FREE THROWS ANALYSIS</a:t>
            </a:r>
          </a:p>
        </p:txBody>
      </p:sp>
    </p:spTree>
    <p:extLst>
      <p:ext uri="{BB962C8B-B14F-4D97-AF65-F5344CB8AC3E}">
        <p14:creationId xmlns:p14="http://schemas.microsoft.com/office/powerpoint/2010/main" val="173802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DF95D8-589C-E217-A6DD-F8A29D37FB49}"/>
              </a:ext>
            </a:extLst>
          </p:cNvPr>
          <p:cNvSpPr>
            <a:spLocks noGrp="1"/>
          </p:cNvSpPr>
          <p:nvPr>
            <p:ph type="title"/>
          </p:nvPr>
        </p:nvSpPr>
        <p:spPr>
          <a:xfrm>
            <a:off x="826396" y="586855"/>
            <a:ext cx="4230100" cy="3387497"/>
          </a:xfrm>
        </p:spPr>
        <p:txBody>
          <a:bodyPr anchor="b">
            <a:normAutofit/>
          </a:bodyPr>
          <a:lstStyle/>
          <a:p>
            <a:pPr algn="r"/>
            <a:r>
              <a:rPr lang="en-ZA" sz="4000" u="sng">
                <a:solidFill>
                  <a:srgbClr val="FFFFFF"/>
                </a:solidFill>
              </a:rPr>
              <a:t>Free throw analysis</a:t>
            </a:r>
          </a:p>
        </p:txBody>
      </p:sp>
      <p:sp>
        <p:nvSpPr>
          <p:cNvPr id="3" name="Content Placeholder 2">
            <a:extLst>
              <a:ext uri="{FF2B5EF4-FFF2-40B4-BE49-F238E27FC236}">
                <a16:creationId xmlns:a16="http://schemas.microsoft.com/office/drawing/2014/main" id="{41ABD11C-92EF-F53F-D9C1-D7D8000D2C48}"/>
              </a:ext>
            </a:extLst>
          </p:cNvPr>
          <p:cNvSpPr>
            <a:spLocks noGrp="1"/>
          </p:cNvSpPr>
          <p:nvPr>
            <p:ph idx="1"/>
          </p:nvPr>
        </p:nvSpPr>
        <p:spPr>
          <a:xfrm>
            <a:off x="5978808" y="655975"/>
            <a:ext cx="5785399" cy="5927705"/>
          </a:xfrm>
        </p:spPr>
        <p:txBody>
          <a:bodyPr anchor="ctr">
            <a:normAutofit/>
          </a:bodyPr>
          <a:lstStyle/>
          <a:p>
            <a:r>
              <a:rPr lang="en-US" sz="2400" dirty="0"/>
              <a:t>You have been supplied data for two more additional in-game statistics:</a:t>
            </a:r>
          </a:p>
          <a:p>
            <a:pPr lvl="1"/>
            <a:r>
              <a:rPr lang="en-US" dirty="0"/>
              <a:t>Free Throws </a:t>
            </a:r>
          </a:p>
          <a:p>
            <a:pPr lvl="1"/>
            <a:r>
              <a:rPr lang="en-US" dirty="0"/>
              <a:t>Free Throw Attempts</a:t>
            </a:r>
          </a:p>
          <a:p>
            <a:r>
              <a:rPr lang="en-US" sz="2400" dirty="0"/>
              <a:t>You need to create three plots that portray the following insights:</a:t>
            </a:r>
          </a:p>
          <a:p>
            <a:pPr lvl="1"/>
            <a:r>
              <a:rPr lang="en-US" dirty="0"/>
              <a:t>Free Throw Attempts per game </a:t>
            </a:r>
          </a:p>
          <a:p>
            <a:pPr lvl="1"/>
            <a:r>
              <a:rPr lang="en-US" dirty="0"/>
              <a:t>Accuracy of Free Throws  </a:t>
            </a:r>
          </a:p>
          <a:p>
            <a:pPr lvl="1"/>
            <a:r>
              <a:rPr lang="en-US" dirty="0"/>
              <a:t>Player playing style (2 vs 3 points preference) excluding Free Throws*</a:t>
            </a:r>
          </a:p>
          <a:p>
            <a:pPr marL="457200" lvl="1" indent="0">
              <a:buNone/>
            </a:pPr>
            <a:r>
              <a:rPr lang="en-US" dirty="0"/>
              <a:t>*Each Free Throw is worth 1 point</a:t>
            </a:r>
          </a:p>
          <a:p>
            <a:r>
              <a:rPr lang="en-US" sz="2400" dirty="0"/>
              <a:t>The data has been supplied in the form of vectors. You will have to create the two matrices before you proceed with the analysis </a:t>
            </a:r>
          </a:p>
        </p:txBody>
      </p:sp>
    </p:spTree>
    <p:extLst>
      <p:ext uri="{BB962C8B-B14F-4D97-AF65-F5344CB8AC3E}">
        <p14:creationId xmlns:p14="http://schemas.microsoft.com/office/powerpoint/2010/main" val="1529565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AB42F8-EFA7-1167-0956-E8992C8ECF36}"/>
              </a:ext>
            </a:extLst>
          </p:cNvPr>
          <p:cNvSpPr>
            <a:spLocks noGrp="1"/>
          </p:cNvSpPr>
          <p:nvPr>
            <p:ph type="title"/>
          </p:nvPr>
        </p:nvSpPr>
        <p:spPr>
          <a:xfrm>
            <a:off x="532567" y="513694"/>
            <a:ext cx="7063721" cy="1016302"/>
          </a:xfrm>
        </p:spPr>
        <p:txBody>
          <a:bodyPr vert="horz" lIns="91440" tIns="45720" rIns="91440" bIns="45720" rtlCol="0" anchor="ctr">
            <a:normAutofit fontScale="90000"/>
          </a:bodyPr>
          <a:lstStyle/>
          <a:p>
            <a:pPr algn="ctr"/>
            <a:r>
              <a:rPr lang="en-US" kern="1200" dirty="0">
                <a:solidFill>
                  <a:srgbClr val="FFFFFF"/>
                </a:solidFill>
                <a:latin typeface="+mj-lt"/>
                <a:ea typeface="+mj-ea"/>
                <a:cs typeface="+mj-cs"/>
              </a:rPr>
              <a:t>Free Throw Attempts per game </a:t>
            </a:r>
            <a:br>
              <a:rPr lang="en-US" sz="3700" kern="1200" dirty="0">
                <a:solidFill>
                  <a:srgbClr val="FFFFFF"/>
                </a:solidFill>
                <a:latin typeface="+mj-lt"/>
                <a:ea typeface="+mj-ea"/>
                <a:cs typeface="+mj-cs"/>
              </a:rPr>
            </a:br>
            <a:endParaRPr lang="en-US" sz="3700" kern="1200" dirty="0">
              <a:solidFill>
                <a:srgbClr val="FFFFFF"/>
              </a:solidFill>
              <a:latin typeface="+mj-lt"/>
              <a:ea typeface="+mj-ea"/>
              <a:cs typeface="+mj-cs"/>
            </a:endParaRPr>
          </a:p>
        </p:txBody>
      </p:sp>
      <p:pic>
        <p:nvPicPr>
          <p:cNvPr id="5" name="Content Placeholder 4" descr="A graph with lines and dots&#10;&#10;Description automatically generated">
            <a:extLst>
              <a:ext uri="{FF2B5EF4-FFF2-40B4-BE49-F238E27FC236}">
                <a16:creationId xmlns:a16="http://schemas.microsoft.com/office/drawing/2014/main" id="{026C9252-058C-1428-E820-4698079781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713" y="1718255"/>
            <a:ext cx="10146477" cy="4891707"/>
          </a:xfrm>
          <a:prstGeom prst="rect">
            <a:avLst/>
          </a:prstGeom>
        </p:spPr>
      </p:pic>
    </p:spTree>
    <p:extLst>
      <p:ext uri="{BB962C8B-B14F-4D97-AF65-F5344CB8AC3E}">
        <p14:creationId xmlns:p14="http://schemas.microsoft.com/office/powerpoint/2010/main" val="1365656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F0E694-8D24-A953-A3FB-08C005BABBF8}"/>
              </a:ext>
            </a:extLst>
          </p:cNvPr>
          <p:cNvSpPr>
            <a:spLocks noGrp="1"/>
          </p:cNvSpPr>
          <p:nvPr>
            <p:ph type="title"/>
          </p:nvPr>
        </p:nvSpPr>
        <p:spPr>
          <a:xfrm>
            <a:off x="1383564" y="348865"/>
            <a:ext cx="9718111" cy="1576446"/>
          </a:xfrm>
        </p:spPr>
        <p:txBody>
          <a:bodyPr anchor="ctr">
            <a:normAutofit/>
          </a:bodyPr>
          <a:lstStyle/>
          <a:p>
            <a:pPr algn="ctr"/>
            <a:r>
              <a:rPr lang="en-ZA" sz="4000" dirty="0">
                <a:solidFill>
                  <a:srgbClr val="FFFFFF"/>
                </a:solidFill>
              </a:rPr>
              <a:t>Insights: FT per game</a:t>
            </a:r>
          </a:p>
        </p:txBody>
      </p:sp>
      <p:graphicFrame>
        <p:nvGraphicFramePr>
          <p:cNvPr id="5" name="Content Placeholder 2">
            <a:extLst>
              <a:ext uri="{FF2B5EF4-FFF2-40B4-BE49-F238E27FC236}">
                <a16:creationId xmlns:a16="http://schemas.microsoft.com/office/drawing/2014/main" id="{8DD1A1A1-6679-F59C-EAC4-18E299EED130}"/>
              </a:ext>
            </a:extLst>
          </p:cNvPr>
          <p:cNvGraphicFramePr>
            <a:graphicFrameLocks noGrp="1"/>
          </p:cNvGraphicFramePr>
          <p:nvPr>
            <p:ph idx="1"/>
            <p:extLst>
              <p:ext uri="{D42A27DB-BD31-4B8C-83A1-F6EECF244321}">
                <p14:modId xmlns:p14="http://schemas.microsoft.com/office/powerpoint/2010/main" val="214745872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28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AB42F8-EFA7-1167-0956-E8992C8ECF36}"/>
              </a:ext>
            </a:extLst>
          </p:cNvPr>
          <p:cNvSpPr>
            <a:spLocks noGrp="1"/>
          </p:cNvSpPr>
          <p:nvPr>
            <p:ph type="title"/>
          </p:nvPr>
        </p:nvSpPr>
        <p:spPr>
          <a:xfrm>
            <a:off x="672819" y="415110"/>
            <a:ext cx="7063721" cy="1159200"/>
          </a:xfrm>
        </p:spPr>
        <p:txBody>
          <a:bodyPr vert="horz" lIns="91440" tIns="45720" rIns="91440" bIns="45720" rtlCol="0" anchor="ctr">
            <a:normAutofit/>
          </a:bodyPr>
          <a:lstStyle/>
          <a:p>
            <a:pPr algn="ctr"/>
            <a:r>
              <a:rPr lang="en-US" sz="4000" kern="1200" dirty="0">
                <a:solidFill>
                  <a:schemeClr val="bg1"/>
                </a:solidFill>
                <a:latin typeface="+mj-lt"/>
                <a:ea typeface="+mj-ea"/>
                <a:cs typeface="+mj-cs"/>
              </a:rPr>
              <a:t>Accuracy of Free Throws</a:t>
            </a:r>
            <a:endParaRPr lang="en-US" sz="3700" kern="1200" dirty="0">
              <a:solidFill>
                <a:schemeClr val="bg1"/>
              </a:solidFill>
              <a:latin typeface="+mj-lt"/>
              <a:ea typeface="+mj-ea"/>
              <a:cs typeface="+mj-cs"/>
            </a:endParaRPr>
          </a:p>
        </p:txBody>
      </p:sp>
      <p:pic>
        <p:nvPicPr>
          <p:cNvPr id="6" name="Content Placeholder 4" descr="A graph with lines and dots&#10;&#10;Description automatically generated">
            <a:extLst>
              <a:ext uri="{FF2B5EF4-FFF2-40B4-BE49-F238E27FC236}">
                <a16:creationId xmlns:a16="http://schemas.microsoft.com/office/drawing/2014/main" id="{26FB1079-7CC8-A733-FAB6-6BA1330735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258" y="1825625"/>
            <a:ext cx="9211235" cy="4351338"/>
          </a:xfrm>
          <a:prstGeom prst="rect">
            <a:avLst/>
          </a:prstGeom>
        </p:spPr>
      </p:pic>
    </p:spTree>
    <p:extLst>
      <p:ext uri="{BB962C8B-B14F-4D97-AF65-F5344CB8AC3E}">
        <p14:creationId xmlns:p14="http://schemas.microsoft.com/office/powerpoint/2010/main" val="1126388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BEF0F7-3368-6C8A-AACA-69EF6803C385}"/>
              </a:ext>
            </a:extLst>
          </p:cNvPr>
          <p:cNvSpPr>
            <a:spLocks noGrp="1"/>
          </p:cNvSpPr>
          <p:nvPr>
            <p:ph type="title"/>
          </p:nvPr>
        </p:nvSpPr>
        <p:spPr>
          <a:xfrm>
            <a:off x="1383564" y="348865"/>
            <a:ext cx="9718111" cy="1576446"/>
          </a:xfrm>
        </p:spPr>
        <p:txBody>
          <a:bodyPr anchor="ctr">
            <a:normAutofit/>
          </a:bodyPr>
          <a:lstStyle/>
          <a:p>
            <a:r>
              <a:rPr lang="en-ZA" sz="4000" dirty="0">
                <a:solidFill>
                  <a:srgbClr val="FFFFFF"/>
                </a:solidFill>
              </a:rPr>
              <a:t>Insights : Free throw %</a:t>
            </a:r>
          </a:p>
        </p:txBody>
      </p:sp>
      <p:graphicFrame>
        <p:nvGraphicFramePr>
          <p:cNvPr id="5" name="Content Placeholder 2">
            <a:extLst>
              <a:ext uri="{FF2B5EF4-FFF2-40B4-BE49-F238E27FC236}">
                <a16:creationId xmlns:a16="http://schemas.microsoft.com/office/drawing/2014/main" id="{0EDD4014-026B-B960-5247-73DA47669D11}"/>
              </a:ext>
            </a:extLst>
          </p:cNvPr>
          <p:cNvGraphicFramePr>
            <a:graphicFrameLocks noGrp="1"/>
          </p:cNvGraphicFramePr>
          <p:nvPr>
            <p:ph idx="1"/>
            <p:extLst>
              <p:ext uri="{D42A27DB-BD31-4B8C-83A1-F6EECF244321}">
                <p14:modId xmlns:p14="http://schemas.microsoft.com/office/powerpoint/2010/main" val="343219264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186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AB42F8-EFA7-1167-0956-E8992C8ECF36}"/>
              </a:ext>
            </a:extLst>
          </p:cNvPr>
          <p:cNvSpPr>
            <a:spLocks noGrp="1"/>
          </p:cNvSpPr>
          <p:nvPr>
            <p:ph type="title"/>
          </p:nvPr>
        </p:nvSpPr>
        <p:spPr>
          <a:xfrm>
            <a:off x="659372" y="415110"/>
            <a:ext cx="7063721" cy="1159200"/>
          </a:xfrm>
        </p:spPr>
        <p:txBody>
          <a:bodyPr vert="horz" lIns="91440" tIns="45720" rIns="91440" bIns="45720" rtlCol="0" anchor="ctr">
            <a:normAutofit/>
          </a:bodyPr>
          <a:lstStyle/>
          <a:p>
            <a:pPr algn="ctr"/>
            <a:r>
              <a:rPr lang="en-US" sz="4000" kern="1200" dirty="0">
                <a:solidFill>
                  <a:srgbClr val="FFFFFF"/>
                </a:solidFill>
                <a:latin typeface="+mj-lt"/>
                <a:ea typeface="+mj-ea"/>
                <a:cs typeface="+mj-cs"/>
              </a:rPr>
              <a:t>Player playing style</a:t>
            </a:r>
            <a:endParaRPr lang="en-US" sz="3700" kern="1200" dirty="0">
              <a:solidFill>
                <a:schemeClr val="bg1"/>
              </a:solidFill>
              <a:latin typeface="+mj-lt"/>
              <a:ea typeface="+mj-ea"/>
              <a:cs typeface="+mj-cs"/>
            </a:endParaRPr>
          </a:p>
        </p:txBody>
      </p:sp>
      <p:pic>
        <p:nvPicPr>
          <p:cNvPr id="5" name="Content Placeholder 4" descr="A graph with different colored lines&#10;&#10;Description automatically generated">
            <a:extLst>
              <a:ext uri="{FF2B5EF4-FFF2-40B4-BE49-F238E27FC236}">
                <a16:creationId xmlns:a16="http://schemas.microsoft.com/office/drawing/2014/main" id="{07B71B90-7DC5-878C-76A9-FD76467639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6265" y="1825624"/>
            <a:ext cx="10311618" cy="4784337"/>
          </a:xfrm>
          <a:prstGeom prst="rect">
            <a:avLst/>
          </a:prstGeom>
        </p:spPr>
      </p:pic>
    </p:spTree>
    <p:extLst>
      <p:ext uri="{BB962C8B-B14F-4D97-AF65-F5344CB8AC3E}">
        <p14:creationId xmlns:p14="http://schemas.microsoft.com/office/powerpoint/2010/main" val="1288781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E84095B-C769-16BA-924A-16D586F92718}"/>
              </a:ext>
            </a:extLst>
          </p:cNvPr>
          <p:cNvSpPr>
            <a:spLocks noGrp="1"/>
          </p:cNvSpPr>
          <p:nvPr>
            <p:ph type="title"/>
          </p:nvPr>
        </p:nvSpPr>
        <p:spPr>
          <a:xfrm>
            <a:off x="1383564" y="348865"/>
            <a:ext cx="9718111" cy="1576446"/>
          </a:xfrm>
        </p:spPr>
        <p:txBody>
          <a:bodyPr anchor="ctr">
            <a:normAutofit/>
          </a:bodyPr>
          <a:lstStyle/>
          <a:p>
            <a:r>
              <a:rPr lang="en-ZA" sz="4000">
                <a:solidFill>
                  <a:srgbClr val="FFFFFF"/>
                </a:solidFill>
              </a:rPr>
              <a:t>Insights and key findings</a:t>
            </a:r>
          </a:p>
        </p:txBody>
      </p:sp>
      <p:graphicFrame>
        <p:nvGraphicFramePr>
          <p:cNvPr id="5" name="Content Placeholder 2">
            <a:extLst>
              <a:ext uri="{FF2B5EF4-FFF2-40B4-BE49-F238E27FC236}">
                <a16:creationId xmlns:a16="http://schemas.microsoft.com/office/drawing/2014/main" id="{60B887F4-8160-83F4-5240-1FBE86071D87}"/>
              </a:ext>
            </a:extLst>
          </p:cNvPr>
          <p:cNvGraphicFramePr>
            <a:graphicFrameLocks noGrp="1"/>
          </p:cNvGraphicFramePr>
          <p:nvPr>
            <p:ph idx="1"/>
            <p:extLst>
              <p:ext uri="{D42A27DB-BD31-4B8C-83A1-F6EECF244321}">
                <p14:modId xmlns:p14="http://schemas.microsoft.com/office/powerpoint/2010/main" val="118607213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8844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D54C0B-B01D-8FC9-65AE-41B5373810BA}"/>
              </a:ext>
            </a:extLst>
          </p:cNvPr>
          <p:cNvSpPr>
            <a:spLocks noGrp="1"/>
          </p:cNvSpPr>
          <p:nvPr>
            <p:ph type="title"/>
          </p:nvPr>
        </p:nvSpPr>
        <p:spPr>
          <a:xfrm>
            <a:off x="1144923" y="219423"/>
            <a:ext cx="5323715" cy="920835"/>
          </a:xfrm>
        </p:spPr>
        <p:txBody>
          <a:bodyPr anchor="b">
            <a:normAutofit/>
          </a:bodyPr>
          <a:lstStyle/>
          <a:p>
            <a:r>
              <a:rPr lang="en-ZA" sz="4000" dirty="0"/>
              <a:t>Conclusions</a:t>
            </a:r>
          </a:p>
        </p:txBody>
      </p:sp>
      <p:sp>
        <p:nvSpPr>
          <p:cNvPr id="28" name="Content Placeholder 2">
            <a:extLst>
              <a:ext uri="{FF2B5EF4-FFF2-40B4-BE49-F238E27FC236}">
                <a16:creationId xmlns:a16="http://schemas.microsoft.com/office/drawing/2014/main" id="{BE09B2AB-FD9C-7168-9A03-DAF55279EB22}"/>
              </a:ext>
            </a:extLst>
          </p:cNvPr>
          <p:cNvSpPr>
            <a:spLocks noGrp="1"/>
          </p:cNvSpPr>
          <p:nvPr>
            <p:ph idx="1"/>
          </p:nvPr>
        </p:nvSpPr>
        <p:spPr>
          <a:xfrm>
            <a:off x="356706" y="1347762"/>
            <a:ext cx="7110894" cy="4928348"/>
          </a:xfrm>
        </p:spPr>
        <p:txBody>
          <a:bodyPr anchor="t">
            <a:normAutofit lnSpcReduction="10000"/>
          </a:bodyPr>
          <a:lstStyle/>
          <a:p>
            <a:r>
              <a:rPr lang="en-US" b="1" dirty="0"/>
              <a:t>Free throws</a:t>
            </a:r>
            <a:r>
              <a:rPr lang="en-US" dirty="0"/>
              <a:t> are an essential yet often overlooked aspect of basketball that can be the difference between winning and losing close games.</a:t>
            </a:r>
          </a:p>
          <a:p>
            <a:r>
              <a:rPr lang="en-US" dirty="0"/>
              <a:t>Players with </a:t>
            </a:r>
            <a:r>
              <a:rPr lang="en-US" b="1" dirty="0"/>
              <a:t>high free throw attempts</a:t>
            </a:r>
            <a:r>
              <a:rPr lang="en-US" dirty="0"/>
              <a:t> often reflect an aggressive and physical play style, which, combined with accuracy, can turn fouls into consistent points.</a:t>
            </a:r>
          </a:p>
          <a:p>
            <a:r>
              <a:rPr lang="en-US" dirty="0"/>
              <a:t>Developing both </a:t>
            </a:r>
            <a:r>
              <a:rPr lang="en-US" b="1" dirty="0"/>
              <a:t>free throw accuracy</a:t>
            </a:r>
            <a:r>
              <a:rPr lang="en-US" dirty="0"/>
              <a:t> and a balanced playing style between 2-point and 3-point attempts could maximize scoring efficiency and improve overall team success.</a:t>
            </a:r>
            <a:endParaRPr lang="en-ZA" dirty="0"/>
          </a:p>
        </p:txBody>
      </p:sp>
      <p:sp>
        <p:nvSpPr>
          <p:cNvPr id="35" name="Rectangle 3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asketball">
            <a:extLst>
              <a:ext uri="{FF2B5EF4-FFF2-40B4-BE49-F238E27FC236}">
                <a16:creationId xmlns:a16="http://schemas.microsoft.com/office/drawing/2014/main" id="{1A9E629A-790B-EA75-7AED-2018BD3293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2375070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414</Words>
  <Application>Microsoft Office PowerPoint</Application>
  <PresentationFormat>Widescreen</PresentationFormat>
  <Paragraphs>29</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BASKETBALL FREE THROWS ANALYSIS</vt:lpstr>
      <vt:lpstr>Free throw analysis</vt:lpstr>
      <vt:lpstr>Free Throw Attempts per game  </vt:lpstr>
      <vt:lpstr>Insights: FT per game</vt:lpstr>
      <vt:lpstr>Accuracy of Free Throws</vt:lpstr>
      <vt:lpstr>Insights : Free throw %</vt:lpstr>
      <vt:lpstr>Player playing style</vt:lpstr>
      <vt:lpstr>Insights and key findings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mulamba</dc:creator>
  <cp:lastModifiedBy>jonathan mulamba</cp:lastModifiedBy>
  <cp:revision>5</cp:revision>
  <dcterms:created xsi:type="dcterms:W3CDTF">2024-09-15T06:18:19Z</dcterms:created>
  <dcterms:modified xsi:type="dcterms:W3CDTF">2024-09-24T08:26:36Z</dcterms:modified>
</cp:coreProperties>
</file>